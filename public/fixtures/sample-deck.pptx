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1695" cy="6858000"/>
  <p:notesSz cx="6858000" cy="9144000"/>
  <p:defaultTextStyle>
    <a:lvl1pPr>
      <a:defRPr sz="1800">
        <a:latin typeface="+mn-lt"/>
        <a:ea typeface="+mn-ea"/>
      </a:defRPr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p>
            <a:r>
              <a:t>この表は wasm 側が読んだ内容そのままで、DOM の table ではない。</a:t>
            </a:r>
          </a:p>
          <a:p>
            <a:r>
              <a:t>ノート欄はこのスライドにだけ出る — 持たないスライドでは畳まれる。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Centred Title"/>
          <p:cNvSpPr/>
          <p:nvPr>
            <p:ph type="ctrTitle"/>
          </p:nvPr>
        </p:nvSpPr>
        <p:spPr>
          <a:xfrm>
            <a:off x="1280160" y="2194560"/>
            <a:ext cx="9631375" cy="1463040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/>
        </p:txBody>
      </p:sp>
      <p:sp>
        <p:nvSpPr>
          <p:cNvPr id="3" name="Subtitle"/>
          <p:cNvSpPr/>
          <p:nvPr>
            <p:ph type="subTitle" idx="1"/>
          </p:nvPr>
        </p:nvSpPr>
        <p:spPr>
          <a:xfrm>
            <a:off x="1280160" y="3749040"/>
            <a:ext cx="9631375" cy="914400"/>
          </a:xfrm>
          <a:prstGeom prst="rect">
            <a:avLst/>
          </a:prstGeom>
        </p:spPr>
        <p:txBody>
          <a:bodyPr/>
          <a:lstStyle>
            <a:lvl1pPr algn="ctr"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/>
        </p:txBody>
      </p:sp>
      <p:sp>
        <p:nvSpPr>
          <p:cNvPr id="3" name="Content"/>
          <p:cNvSpPr/>
          <p:nvPr>
            <p:ph type="body" idx="1"/>
          </p:nvPr>
        </p:nvSpPr>
        <p:spPr/>
        <p:txBody>
          <a:bodyPr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" name="Accent Stripe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Footer Rule"/>
          <p:cNvSpPr/>
          <p:nvPr/>
        </p:nvSpPr>
        <p:spPr>
          <a:xfrm>
            <a:off x="640080" y="6309360"/>
            <a:ext cx="10911535" cy="18288"/>
          </a:xfrm>
          <a:prstGeom prst="rect">
            <a:avLst/>
          </a:prstGeom>
          <a:solidFill>
            <a:schemeClr val="lt2"/>
          </a:solidFill>
        </p:spPr>
      </p:sp>
      <p:sp>
        <p:nvSpPr>
          <p:cNvPr id="4" name="Title Placeholder"/>
          <p:cNvSpPr/>
          <p:nvPr>
            <p:ph type="title"/>
          </p:nvPr>
        </p:nvSpPr>
        <p:spPr>
          <a:xfrm>
            <a:off x="640080" y="548640"/>
            <a:ext cx="10911535" cy="1097280"/>
          </a:xfrm>
          <a:prstGeom prst="rect">
            <a:avLst/>
          </a:prstGeom>
        </p:spPr>
        <p:txBody>
          <a:bodyPr anchor="b"/>
          <a:p/>
        </p:txBody>
      </p:sp>
      <p:sp>
        <p:nvSpPr>
          <p:cNvPr id="5" name="Body Placeholder"/>
          <p:cNvSpPr/>
          <p:nvPr>
            <p:ph type="body" idx="1"/>
          </p:nvPr>
        </p:nvSpPr>
        <p:spPr>
          <a:xfrm>
            <a:off x="640080" y="1828800"/>
            <a:ext cx="10911535" cy="4206240"/>
          </a:xfrm>
          <a:prstGeom prst="rect">
            <a:avLst/>
          </a:prstGeom>
        </p:spPr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000" b="1">
          <a:solidFill>
            <a:schemeClr val="dk2"/>
          </a:solidFill>
          <a:latin typeface="+mj-lt"/>
          <a:ea typeface="+mj-ea"/>
        </a:defRPr>
      </a:lvl1pPr>
    </p:titleStyle>
    <p:bodyStyle>
      <a:lvl1pPr marL="342900" indent="-342900">
        <a:buChar char="•"/>
        <a:defRPr sz="2000">
          <a:solidFill>
            <a:schemeClr val="tx1"/>
          </a:solidFill>
          <a:latin typeface="+mn-lt"/>
          <a:ea typeface="+mn-ea"/>
        </a:defRPr>
      </a:lvl1pPr>
      <a:lvl2pPr marL="742950" indent="-285750">
        <a:buChar char="–"/>
        <a:defRPr sz="1600">
          <a:solidFill>
            <a:schemeClr val="tx1"/>
          </a:solidFill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3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/>
        <p:txBody>
          <a:bodyPr/>
          <a:p>
            <a:r>
              <a:t>Jade Slides</a:t>
            </a:r>
          </a:p>
        </p:txBody>
      </p:sp>
      <p:sp>
        <p:nvSpPr>
          <p:cNvPr id="3" name="Subtitle 2"/>
          <p:cNvSpPr/>
          <p:nvPr>
            <p:ph type="subTitle" idx="1"/>
          </p:nvPr>
        </p:nvSpPr>
        <p:spPr/>
        <p:txBody>
          <a:bodyPr/>
          <a:p>
            <a:r>
              <a:t>One renderer, three formats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What the deck viewer draws</a:t>
            </a:r>
          </a:p>
        </p:txBody>
      </p:sp>
      <p:sp>
        <p:nvSpPr>
          <p:cNvPr id="3" name="Body 2"/>
          <p:cNvSpPr/>
          <p:nvPr>
            <p:ph type="body" idx="1"/>
          </p:nvPr>
        </p:nvSpPr>
        <p:spPr>
          <a:xfrm>
            <a:off x="640080" y="1828800"/>
            <a:ext cx="6400800" cy="4206240"/>
          </a:xfrm>
          <a:prstGeom prst="rect">
            <a:avLst/>
          </a:prstGeom>
        </p:spPr>
        <p:txBody>
          <a:bodyPr/>
          <a:p>
            <a:r>
              <a:t>Shapes, fills and outlines</a:t>
            </a:r>
          </a:p>
          <a:p>
            <a:pPr lvl="1"/>
            <a:r>
              <a:t>rounded rectangles, ellipses, connectors</a:t>
            </a:r>
          </a:p>
          <a:p>
            <a:r>
              <a:t>Text that wraps where the font says it wraps</a:t>
            </a:r>
          </a:p>
          <a:p>
            <a:pPr lvl="1"/>
            <a:r>
              <a:t>measured against the canvas, not an approximation</a:t>
            </a:r>
          </a:p>
          <a:p>
            <a:r>
              <a:t>Tables and speaker notes</a:t>
            </a:r>
          </a:p>
        </p:txBody>
      </p:sp>
      <p:sp>
        <p:nvSpPr>
          <p:cNvPr id="4" name="Rounded Card"/>
          <p:cNvSpPr/>
          <p:nvPr/>
        </p:nvSpPr>
        <p:spPr>
          <a:xfrm>
            <a:off x="7680960" y="2011680"/>
            <a:ext cx="3840480" cy="1645920"/>
          </a:xfrm>
          <a:prstGeom prst="roundRect">
            <a:avLst/>
          </a:prstGeom>
          <a:solidFill>
            <a:schemeClr val="lt2"/>
          </a:solidFill>
          <a:ln w="19050">
            <a:solidFill>
              <a:schemeClr val="accent1"/>
            </a:solidFill>
          </a:ln>
        </p:spPr>
        <p:txBody>
          <a:bodyPr anchor="ctr"/>
          <a:p>
            <a:pPr algn="ctr" marL="0" indent="0">
              <a:buNone/>
            </a:pPr>
            <a:r>
              <a:rPr sz="1600" b="1"/>
              <a:t>jade-painter</a:t>
            </a:r>
          </a:p>
        </p:txBody>
      </p:sp>
      <p:sp>
        <p:nvSpPr>
          <p:cNvPr id="5" name="Accent Dot"/>
          <p:cNvSpPr/>
          <p:nvPr/>
        </p:nvSpPr>
        <p:spPr>
          <a:xfrm>
            <a:off x="9052560" y="4480560"/>
            <a:ext cx="1097280" cy="109728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6" name="Connector"/>
          <p:cNvSpPr/>
          <p:nvPr/>
        </p:nvSpPr>
        <p:spPr>
          <a:xfrm>
            <a:off x="9601200" y="3657600"/>
            <a:ext cx="0" cy="82296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</p:sp>
      <p:pic>
        <p:nvPicPr>
          <p:cNvPr id="20" name="Orange Swatch"/>
          <p:cNvPicPr/>
          <p:nvPr/>
        </p:nvPicPr>
        <p:blipFill>
          <a:blip r:embed="rId3"/>
          <a:stretch>
            <a:fillRect/>
          </a:stretch>
        </p:blipFill>
        <p:spPr>
          <a:xfrm>
            <a:off x="10332720" y="4572000"/>
            <a:ext cx="1463040" cy="109728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対応状況</a:t>
            </a:r>
          </a:p>
        </p:txBody>
      </p:sp>
      <p:graphicFrame>
        <p:nvGraphicFramePr>
          <p:cNvPr id="3" name="Status Table"/>
          <p:cNvGraphicFramePr/>
          <p:nvPr/>
        </p:nvGraphicFramePr>
        <p:xfrm>
          <a:off x="640080" y="1920240"/>
          <a:ext cx="10911535" cy="2926080"/>
        </p:xfrm>
        <a:graphic>
          <a:graphicData uri="http://schemas.openxmlformats.org/drawingml/2006/table">
            <a:tbl>
              <a:tblPr firstRow="1"/>
              <a:tblGrid>
                <a:gridCol w="2743200"/>
                <a:gridCol w="2743200"/>
                <a:gridCol w="5425135"/>
              </a:tblGrid>
              <a:tr h="548640">
                <a:tc>
                  <a:txBody>
                    <a:bodyPr/>
                    <a:p>
                      <a:r>
                        <a:rPr b="1" sz="1600"/>
                        <a:t>形式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p>
                      <a:r>
                        <a:rPr b="1" sz="1600"/>
                        <a:t>状態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  <a:tc>
                  <a:txBody>
                    <a:bodyPr/>
                    <a:p>
                      <a:r>
                        <a:rPr b="1" sz="1600"/>
                        <a:t>備考</a:t>
                      </a:r>
                    </a:p>
                  </a:txBody>
                  <a:tcPr>
                    <a:solidFill>
                      <a:schemeClr val="lt2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400"/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編集できる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レイアウトは Word 互換を目標にしている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r>
                        <a:rPr sz="140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編集できる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数式は書き戻しのたびに再計算される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r>
                        <a:rPr sz="1400"/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閲覧のみ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sz="1400"/>
                        <a:t>書き出しはまだない。読んで描くところまで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Jade">
  <a:themeElements>
    <a:clrScheme name="Jade">
      <a:dk1>
        <a:srgbClr val="1B1F24"/>
      </a:dk1>
      <a:lt1>
        <a:srgbClr val="FFFFFF"/>
      </a:lt1>
      <a:dk2>
        <a:srgbClr val="16352B"/>
      </a:dk2>
      <a:lt2>
        <a:srgbClr val="EFF5F1"/>
      </a:lt2>
      <a:accent1>
        <a:srgbClr val="1E7A5A"/>
      </a:accent1>
      <a:accent2>
        <a:srgbClr val="C7913B"/>
      </a:accent2>
      <a:accent3>
        <a:srgbClr val="3C6E9E"/>
      </a:accent3>
      <a:accent4>
        <a:srgbClr val="8E5AA8"/>
      </a:accent4>
      <a:accent5>
        <a:srgbClr val="B5504C"/>
      </a:accent5>
      <a:accent6>
        <a:srgbClr val="4F8A8B"/>
      </a:accent6>
      <a:hlink>
        <a:srgbClr val="1155CC"/>
      </a:hlink>
      <a:folHlink>
        <a:srgbClr val="7A3E9D"/>
      </a:folHlink>
    </a:clrScheme>
    <a:fontScheme name="Jade">
      <a:majorFont>
        <a:latin typeface="Helvetica Neue"/>
        <a:ea typeface="Hiragino Kaku Gothic ProN"/>
        <a:cs typeface=""/>
      </a:majorFont>
      <a:minorFont>
        <a:latin typeface="Helvetica Neue"/>
        <a:ea typeface="Hiragino Kaku Gothic ProN"/>
        <a:cs typeface=""/>
      </a:minorFont>
    </a:fontScheme>
    <a:fmtScheme name="Ja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